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4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170432"/>
            <a:ext cx="6949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3F5B74"/>
                </a:solidFill>
                <a:latin typeface="Aptos"/>
              </a:rPr>
              <a:t>SYSTEM THESIS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7406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600" b="1" i="0">
                <a:solidFill>
                  <a:srgbClr val="18222D"/>
                </a:solidFill>
                <a:latin typeface="Georgia"/>
              </a:rPr>
              <a:t>ISU-GeoBot</a:t>
            </a:r>
          </a:p>
          <a:p>
            <a:pPr algn="l">
              <a:lnSpc>
                <a:spcPct val="116000"/>
              </a:lnSpc>
            </a:pPr>
            <a:r>
              <a:rPr sz="3600" b="1" i="0">
                <a:solidFill>
                  <a:srgbClr val="18222D"/>
                </a:solidFill>
                <a:latin typeface="Georgia"/>
              </a:rPr>
              <a:t>A Campus Navigation and</a:t>
            </a:r>
          </a:p>
          <a:p>
            <a:pPr algn="l">
              <a:lnSpc>
                <a:spcPct val="116000"/>
              </a:lnSpc>
            </a:pPr>
            <a:r>
              <a:rPr sz="3600" b="1" i="0">
                <a:solidFill>
                  <a:srgbClr val="18222D"/>
                </a:solidFill>
                <a:latin typeface="Georgia"/>
              </a:rPr>
              <a:t>Faculty Availability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315968"/>
            <a:ext cx="7223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596978"/>
                </a:solidFill>
                <a:latin typeface="Aptos"/>
              </a:rPr>
              <a:t>Integrating a Random Forest classifier into a Retrieval-Augmented Generation pipeline, under an enforced disclosure limit.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549640" y="1152144"/>
            <a:ext cx="3063240" cy="4114800"/>
          </a:xfrm>
          <a:prstGeom prst="rect">
            <a:avLst/>
          </a:prstGeom>
          <a:solidFill>
            <a:srgbClr val="2A4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87968" y="1444752"/>
            <a:ext cx="2468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FFFFFF"/>
                </a:solidFill>
                <a:latin typeface="Aptos Display"/>
              </a:rPr>
              <a:t>ISU-GeoBot</a:t>
            </a:r>
          </a:p>
        </p:txBody>
      </p:sp>
      <p:sp>
        <p:nvSpPr>
          <p:cNvPr id="9" name="Rectangle 8"/>
          <p:cNvSpPr/>
          <p:nvPr/>
        </p:nvSpPr>
        <p:spPr>
          <a:xfrm>
            <a:off x="8887968" y="2340864"/>
            <a:ext cx="685800" cy="19050"/>
          </a:xfrm>
          <a:prstGeom prst="rect">
            <a:avLst/>
          </a:prstGeom>
          <a:solidFill>
            <a:srgbClr val="3F5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87968" y="2596896"/>
            <a:ext cx="2560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350" b="0" i="0">
                <a:solidFill>
                  <a:srgbClr val="FFFFFF"/>
                </a:solidFill>
                <a:latin typeface="Aptos"/>
              </a:rPr>
              <a:t>Enhanced RAG</a:t>
            </a:r>
          </a:p>
          <a:p>
            <a:pPr algn="l">
              <a:lnSpc>
                <a:spcPct val="162000"/>
              </a:lnSpc>
            </a:pPr>
            <a:r>
              <a:rPr sz="1350" b="0" i="0">
                <a:solidFill>
                  <a:srgbClr val="FFFFFF"/>
                </a:solidFill>
                <a:latin typeface="Aptos"/>
              </a:rPr>
              <a:t>Random Forest availability</a:t>
            </a:r>
          </a:p>
          <a:p>
            <a:pPr algn="l">
              <a:lnSpc>
                <a:spcPct val="162000"/>
              </a:lnSpc>
            </a:pPr>
            <a:r>
              <a:rPr sz="1350" b="0" i="0">
                <a:solidFill>
                  <a:srgbClr val="FFFFFF"/>
                </a:solidFill>
                <a:latin typeface="Aptos"/>
              </a:rPr>
              <a:t>Status masking protocol</a:t>
            </a:r>
          </a:p>
          <a:p>
            <a:pPr algn="l">
              <a:lnSpc>
                <a:spcPct val="162000"/>
              </a:lnSpc>
            </a:pPr>
            <a:r>
              <a:rPr sz="1350" b="0" i="0">
                <a:solidFill>
                  <a:srgbClr val="FFFFFF"/>
                </a:solidFill>
                <a:latin typeface="Aptos"/>
              </a:rPr>
              <a:t>Interactive campus map</a:t>
            </a:r>
          </a:p>
          <a:p>
            <a:pPr algn="l">
              <a:lnSpc>
                <a:spcPct val="162000"/>
              </a:lnSpc>
            </a:pPr>
            <a:r>
              <a:rPr sz="1350" b="0" i="0">
                <a:solidFill>
                  <a:srgbClr val="FFFFFF"/>
                </a:solidFill>
                <a:latin typeface="Aptos"/>
              </a:rPr>
              <a:t>OCR announcement intake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5504688"/>
            <a:ext cx="10454335" cy="9525"/>
          </a:xfrm>
          <a:prstGeom prst="rect">
            <a:avLst/>
          </a:prstGeom>
          <a:solidFill>
            <a:srgbClr val="CD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705856"/>
            <a:ext cx="3840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96978"/>
                </a:solidFill>
                <a:latin typeface="Aptos"/>
              </a:rPr>
              <a:t>Researchers:  Simbulan, Christian Paul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96978"/>
                </a:solidFill>
                <a:latin typeface="Aptos"/>
              </a:rPr>
              <a:t>                       Almario, Michael Allan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5705856"/>
            <a:ext cx="4114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96978"/>
                </a:solidFill>
                <a:latin typeface="Aptos"/>
              </a:rPr>
              <a:t>Institution / Department: College of Computing Studies,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96978"/>
                </a:solidFill>
                <a:latin typeface="Aptos"/>
              </a:rPr>
              <a:t>Information and Communication Technology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5705856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96978"/>
                </a:solidFill>
                <a:latin typeface="Aptos"/>
              </a:rPr>
              <a:t>Defense Date: September 16,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09360"/>
            <a:ext cx="11057839" cy="9525"/>
          </a:xfrm>
          <a:prstGeom prst="rect">
            <a:avLst/>
          </a:prstGeom>
          <a:solidFill>
            <a:srgbClr val="CD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596978"/>
                </a:solidFill>
                <a:latin typeface="Aptos"/>
              </a:rPr>
              <a:t>ISU-GEOBOT  ·  CAMPUS NAVIGATION AND FACULTY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596978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 i="0">
                <a:solidFill>
                  <a:srgbClr val="18222D"/>
                </a:solidFill>
                <a:latin typeface="Aptos Display"/>
              </a:rPr>
              <a:t>Background of the Study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078992"/>
            <a:ext cx="566928" cy="41148"/>
          </a:xfrm>
          <a:prstGeom prst="rect">
            <a:avLst/>
          </a:prstGeom>
          <a:solidFill>
            <a:srgbClr val="2A4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 i="0">
                <a:solidFill>
                  <a:srgbClr val="18222D"/>
                </a:solidFill>
                <a:latin typeface="Georgia"/>
              </a:rPr>
              <a:t>A student looking for a lecturer asks two questions. The campus answers neither well.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20240"/>
            <a:ext cx="358444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057400"/>
            <a:ext cx="318211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3F5B74"/>
                </a:solidFill>
                <a:latin typeface="Aptos"/>
              </a:rPr>
              <a:t>WHERE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13432"/>
            <a:ext cx="3182112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8222D"/>
                </a:solidFill>
                <a:latin typeface="Aptos"/>
              </a:rPr>
              <a:t>A campus of thirty-odd buildings, no signage a newcomer can follow, and no searchable index of what is inside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1920240"/>
            <a:ext cx="358444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057400"/>
            <a:ext cx="318211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3F5B74"/>
                </a:solidFill>
                <a:latin typeface="Aptos"/>
              </a:rPr>
              <a:t>WHETHER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313432"/>
            <a:ext cx="3182112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8222D"/>
                </a:solidFill>
                <a:latin typeface="Aptos"/>
              </a:rPr>
              <a:t>Whether a lecturer is in right now is unanswerable without walking to the office and checking.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4" y="1920240"/>
            <a:ext cx="358444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057400"/>
            <a:ext cx="318211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3F5B74"/>
                </a:solidFill>
                <a:latin typeface="Aptos"/>
              </a:rPr>
              <a:t>THE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313432"/>
            <a:ext cx="3182112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8222D"/>
                </a:solidFill>
                <a:latin typeface="Aptos"/>
              </a:rPr>
              <a:t>Answering the second question carelessly turns a navigation tool into a tracking tool.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10128"/>
            <a:ext cx="358444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447288"/>
            <a:ext cx="318211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3F5B74"/>
                </a:solidFill>
                <a:latin typeface="Aptos"/>
              </a:rPr>
              <a:t>THE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703320"/>
            <a:ext cx="3182112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8222D"/>
                </a:solidFill>
                <a:latin typeface="Aptos"/>
              </a:rPr>
              <a:t>425 real class blocks exist. Real attendance records do not — they were ruled out on privacy grounds.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34256" y="3310128"/>
            <a:ext cx="358444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35424" y="3447288"/>
            <a:ext cx="318211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3F5B74"/>
                </a:solidFill>
                <a:latin typeface="Aptos"/>
              </a:rPr>
              <a:t>THE 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3703320"/>
            <a:ext cx="3182112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8222D"/>
                </a:solidFill>
                <a:latin typeface="Aptos"/>
              </a:rPr>
              <a:t>Retrieval alone cannot answer availability. A timetable is not a document in the corpus.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01584" y="3310128"/>
            <a:ext cx="358444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3447288"/>
            <a:ext cx="318211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3F5B74"/>
                </a:solidFill>
                <a:latin typeface="Aptos"/>
              </a:rPr>
              <a:t>THE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703320"/>
            <a:ext cx="3182112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8222D"/>
                </a:solidFill>
                <a:latin typeface="Aptos"/>
              </a:rPr>
              <a:t>An empty hour is not free time. It is the absence of a class, not the presence of a person.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828032"/>
            <a:ext cx="11057839" cy="932688"/>
          </a:xfrm>
          <a:prstGeom prst="rect">
            <a:avLst/>
          </a:prstGeom>
          <a:solidFill>
            <a:srgbClr val="E0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956048"/>
            <a:ext cx="10326319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18222D"/>
                </a:solidFill>
                <a:latin typeface="Georgia"/>
              </a:rPr>
              <a:t>The system must answer where a building is, and whether a lecturer is available — without ever disclosing where that person 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09360"/>
            <a:ext cx="11057839" cy="9525"/>
          </a:xfrm>
          <a:prstGeom prst="rect">
            <a:avLst/>
          </a:prstGeom>
          <a:solidFill>
            <a:srgbClr val="CD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596978"/>
                </a:solidFill>
                <a:latin typeface="Aptos"/>
              </a:rPr>
              <a:t>ISU-GEOBOT  ·  CAMPUS NAVIGATION AND FACULTY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596978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 i="0">
                <a:solidFill>
                  <a:srgbClr val="18222D"/>
                </a:solidFill>
                <a:latin typeface="Aptos Display"/>
              </a:rPr>
              <a:t>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078992"/>
            <a:ext cx="566928" cy="41148"/>
          </a:xfrm>
          <a:prstGeom prst="rect">
            <a:avLst/>
          </a:prstGeom>
          <a:solidFill>
            <a:srgbClr val="2A4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71600"/>
            <a:ext cx="5468112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36192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3F5B74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517904"/>
            <a:ext cx="437083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18222D"/>
                </a:solidFill>
                <a:latin typeface="Aptos"/>
              </a:rPr>
              <a:t>Integrate the classifier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938528"/>
            <a:ext cx="502920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96978"/>
                </a:solidFill>
                <a:latin typeface="Aptos"/>
              </a:rPr>
              <a:t>Integrate a Random Forest classifier into the Retrieval-Augmented Generation pipeline so that faculty availability is estimated from temporal schedule data and behavioural attendance features.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468112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536192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3F5B74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517904"/>
            <a:ext cx="437083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18222D"/>
                </a:solidFill>
                <a:latin typeface="Aptos"/>
              </a:rPr>
              <a:t>Compare the architectures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938528"/>
            <a:ext cx="502920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96978"/>
                </a:solidFill>
                <a:latin typeface="Aptos"/>
              </a:rPr>
              <a:t>Evaluate and compare the standard and Enhanced RAG architectures in terms of Response Time and the RAGAS metrics of Context Precision, Context Recall, Faithfulness and Answer Relevancy.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328416"/>
            <a:ext cx="5468112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493008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3F5B74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3474720"/>
            <a:ext cx="437083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18222D"/>
                </a:solidFill>
                <a:latin typeface="Aptos"/>
              </a:rPr>
              <a:t>Deploy with a disclosure limit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895344"/>
            <a:ext cx="502920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96978"/>
                </a:solidFill>
                <a:latin typeface="Aptos"/>
              </a:rPr>
              <a:t>Deploy the Enhanced RAG architecture within the web-based ISU-GeoBot system, enforcing a status masking protocol and an egress boundary so that no physical location of a person is disclosed.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328416"/>
            <a:ext cx="5468112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3493008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3F5B74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474720"/>
            <a:ext cx="437083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18222D"/>
                </a:solidFill>
                <a:latin typeface="Aptos"/>
              </a:rPr>
              <a:t>Evaluate functional 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3895344"/>
            <a:ext cx="502920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96978"/>
                </a:solidFill>
                <a:latin typeface="Aptos"/>
              </a:rPr>
              <a:t>Evaluate the functional accuracy of the system's availability estimates against direct field observation of classroom activity.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230368"/>
            <a:ext cx="11057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 i="0">
                <a:solidFill>
                  <a:srgbClr val="2A4154"/>
                </a:solidFill>
                <a:latin typeface="Aptos"/>
              </a:rPr>
              <a:t>Evaluated on:   Response Time   •   Context Precision   •   Context Recall   •   Faithfulness   •   Answer Relevancy   •   Macro F1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09360"/>
            <a:ext cx="11057839" cy="9525"/>
          </a:xfrm>
          <a:prstGeom prst="rect">
            <a:avLst/>
          </a:prstGeom>
          <a:solidFill>
            <a:srgbClr val="CD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596978"/>
                </a:solidFill>
                <a:latin typeface="Aptos"/>
              </a:rPr>
              <a:t>ISU-GEOBOT  ·  CAMPUS NAVIGATION AND FACULTY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596978"/>
                </a:solidFill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 i="0">
                <a:solidFill>
                  <a:srgbClr val="18222D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078992"/>
            <a:ext cx="566928" cy="41148"/>
          </a:xfrm>
          <a:prstGeom prst="rect">
            <a:avLst/>
          </a:prstGeom>
          <a:solidFill>
            <a:srgbClr val="2A4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37472" y="1234059"/>
            <a:ext cx="9116751" cy="4810506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ra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997" y="1243584"/>
            <a:ext cx="9097701" cy="47914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09360"/>
            <a:ext cx="11057839" cy="9525"/>
          </a:xfrm>
          <a:prstGeom prst="rect">
            <a:avLst/>
          </a:prstGeom>
          <a:solidFill>
            <a:srgbClr val="CD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596978"/>
                </a:solidFill>
                <a:latin typeface="Aptos"/>
              </a:rPr>
              <a:t>ISU-GEOBOT  ·  CAMPUS NAVIGATION AND FACULTY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596978"/>
                </a:solidFill>
                <a:latin typeface="Apto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 i="0">
                <a:solidFill>
                  <a:srgbClr val="18222D"/>
                </a:solidFill>
                <a:latin typeface="Aptos Display"/>
              </a:rPr>
              <a:t>AI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078992"/>
            <a:ext cx="566928" cy="41148"/>
          </a:xfrm>
          <a:prstGeom prst="rect">
            <a:avLst/>
          </a:prstGeom>
          <a:solidFill>
            <a:srgbClr val="2A4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28311" y="1234059"/>
            <a:ext cx="7135073" cy="4810506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ram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836" y="1243584"/>
            <a:ext cx="7116023" cy="47914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09360"/>
            <a:ext cx="11057839" cy="9525"/>
          </a:xfrm>
          <a:prstGeom prst="rect">
            <a:avLst/>
          </a:prstGeom>
          <a:solidFill>
            <a:srgbClr val="CD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596978"/>
                </a:solidFill>
                <a:latin typeface="Aptos"/>
              </a:rPr>
              <a:t>ISU-GEOBOT  ·  CAMPUS NAVIGATION AND FACULTY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596978"/>
                </a:solidFill>
                <a:latin typeface="Apto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 i="0">
                <a:solidFill>
                  <a:srgbClr val="18222D"/>
                </a:solidFill>
                <a:latin typeface="Aptos Display"/>
              </a:rPr>
              <a:t>System Screenshots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078992"/>
            <a:ext cx="566928" cy="41148"/>
          </a:xfrm>
          <a:prstGeom prst="rect">
            <a:avLst/>
          </a:prstGeom>
          <a:solidFill>
            <a:srgbClr val="2A4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8016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3F5B74"/>
                </a:solidFill>
                <a:latin typeface="Aptos"/>
              </a:rPr>
              <a:t>01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1056"/>
            <a:ext cx="2304288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96978"/>
                </a:solidFill>
                <a:latin typeface="Aptos"/>
              </a:rPr>
              <a:t>The classifier answering an availability question. One of three coarse states plus the next consultation window — and no location.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243584"/>
            <a:ext cx="8515807" cy="4791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3456432"/>
            <a:ext cx="79671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596978"/>
                </a:solidFill>
                <a:latin typeface="Aptos"/>
              </a:rPr>
              <a:t>[ 05-chat-availability — not captured yet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09360"/>
            <a:ext cx="11057839" cy="9525"/>
          </a:xfrm>
          <a:prstGeom prst="rect">
            <a:avLst/>
          </a:prstGeom>
          <a:solidFill>
            <a:srgbClr val="CD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596978"/>
                </a:solidFill>
                <a:latin typeface="Aptos"/>
              </a:rPr>
              <a:t>ISU-GEOBOT  ·  CAMPUS NAVIGATION AND FACULTY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596978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 i="0">
                <a:solidFill>
                  <a:srgbClr val="18222D"/>
                </a:solidFill>
                <a:latin typeface="Aptos Display"/>
              </a:rPr>
              <a:t>Results — Response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078992"/>
            <a:ext cx="566928" cy="41148"/>
          </a:xfrm>
          <a:prstGeom prst="rect">
            <a:avLst/>
          </a:prstGeom>
          <a:solidFill>
            <a:srgbClr val="2A4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8016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3F5B74"/>
                </a:solidFill>
                <a:latin typeface="Aptos"/>
              </a:rPr>
              <a:t>02 OBJECTIVE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45920"/>
            <a:ext cx="6446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28216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596978"/>
                </a:solidFill>
                <a:latin typeface="Aptos"/>
              </a:rPr>
              <a:t>Pipeline 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1728216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596978"/>
                </a:solidFill>
                <a:latin typeface="Aptos"/>
              </a:rPr>
              <a:t>Standard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728216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596978"/>
                </a:solidFill>
                <a:latin typeface="Aptos"/>
              </a:rPr>
              <a:t>Enhanced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1728216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596978"/>
                </a:solidFill>
                <a:latin typeface="Aptos"/>
              </a:rPr>
              <a:t>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203704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8222D"/>
                </a:solidFill>
                <a:latin typeface="Aptos"/>
              </a:rPr>
              <a:t>Presence 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2203704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8222D"/>
                </a:solidFill>
                <a:latin typeface="Consolas"/>
              </a:rPr>
              <a:t>0.0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203704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8222D"/>
                </a:solidFill>
                <a:latin typeface="Consolas"/>
              </a:rPr>
              <a:t>30.3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2203704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8222D"/>
                </a:solidFill>
                <a:latin typeface="Consolas"/>
              </a:rPr>
              <a:t>+30.3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67919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8222D"/>
                </a:solidFill>
                <a:latin typeface="Aptos"/>
              </a:rPr>
              <a:t>Random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4408" y="267919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8222D"/>
                </a:solidFill>
                <a:latin typeface="Consolas"/>
              </a:rPr>
              <a:t>0.0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267919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8222D"/>
                </a:solidFill>
                <a:latin typeface="Consolas"/>
              </a:rPr>
              <a:t>9.1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267919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8222D"/>
                </a:solidFill>
                <a:latin typeface="Consolas"/>
              </a:rPr>
              <a:t>+9.1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154680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8222D"/>
                </a:solidFill>
                <a:latin typeface="Aptos"/>
              </a:rPr>
              <a:t>Vector retrieval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64408" y="3154680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8222D"/>
                </a:solidFill>
                <a:latin typeface="Consolas"/>
              </a:rPr>
              <a:t>168.1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154680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8222D"/>
                </a:solidFill>
                <a:latin typeface="Consolas"/>
              </a:rPr>
              <a:t>175.6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0448" y="3154680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8222D"/>
                </a:solidFill>
                <a:latin typeface="Consolas"/>
              </a:rPr>
              <a:t>+7.5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630168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8222D"/>
                </a:solidFill>
                <a:latin typeface="Aptos"/>
              </a:rPr>
              <a:t>Answer generation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64408" y="3630168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8222D"/>
                </a:solidFill>
                <a:latin typeface="Consolas"/>
              </a:rPr>
              <a:t>1,088.7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3630168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8222D"/>
                </a:solidFill>
                <a:latin typeface="Consolas"/>
              </a:rPr>
              <a:t>1,147.8 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0448" y="3630168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8222D"/>
                </a:solidFill>
                <a:latin typeface="Consolas"/>
              </a:rPr>
              <a:t>+59.1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023360"/>
            <a:ext cx="6446520" cy="420624"/>
          </a:xfrm>
          <a:prstGeom prst="rect">
            <a:avLst/>
          </a:prstGeom>
          <a:solidFill>
            <a:srgbClr val="E0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105656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18222D"/>
                </a:solidFill>
                <a:latin typeface="Aptos"/>
              </a:rPr>
              <a:t>End-to-end mean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64408" y="4105656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18222D"/>
                </a:solidFill>
                <a:latin typeface="Consolas"/>
              </a:rPr>
              <a:t>1,315.6 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0288" y="4105656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18222D"/>
                </a:solidFill>
                <a:latin typeface="Consolas"/>
              </a:rPr>
              <a:t>1,484.5 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70448" y="4105656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18222D"/>
                </a:solidFill>
                <a:latin typeface="Consolas"/>
              </a:rPr>
              <a:t>+168.9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1645920"/>
            <a:ext cx="4215384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F5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62672" y="1810512"/>
            <a:ext cx="37490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3F5B74"/>
                </a:solidFill>
                <a:latin typeface="Aptos"/>
              </a:rPr>
              <a:t>THE FINDING THAT MATTERS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2139696"/>
            <a:ext cx="37490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i="0">
                <a:solidFill>
                  <a:srgbClr val="18222D"/>
                </a:solidFill>
                <a:latin typeface="Aptos Display"/>
              </a:rPr>
              <a:t>0 of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62672" y="2761488"/>
            <a:ext cx="374903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96978"/>
                </a:solidFill>
                <a:latin typeface="Aptos"/>
              </a:rPr>
              <a:t>availability questions answered by the standard architecture.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96978"/>
                </a:solidFill>
                <a:latin typeface="Aptos"/>
              </a:rPr>
              <a:t>The Enhanced architecture answered 5.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626864"/>
            <a:ext cx="11057839" cy="1060704"/>
          </a:xfrm>
          <a:prstGeom prst="rect">
            <a:avLst/>
          </a:prstGeom>
          <a:solidFill>
            <a:srgbClr val="E0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4754880"/>
            <a:ext cx="10326319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18222D"/>
                </a:solidFill>
                <a:latin typeface="Georgia"/>
              </a:rPr>
              <a:t>The Enhanced arm is slower, and that is the honest result. What the extra time buys is a class of question the baseline cannot answer at 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09360"/>
            <a:ext cx="11057839" cy="9525"/>
          </a:xfrm>
          <a:prstGeom prst="rect">
            <a:avLst/>
          </a:prstGeom>
          <a:solidFill>
            <a:srgbClr val="CD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596978"/>
                </a:solidFill>
                <a:latin typeface="Aptos"/>
              </a:rPr>
              <a:t>ISU-GEOBOT  ·  CAMPUS NAVIGATION AND FACULTY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596978"/>
                </a:solidFill>
                <a:latin typeface="Aptos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 i="0">
                <a:solidFill>
                  <a:srgbClr val="18222D"/>
                </a:solidFill>
                <a:latin typeface="Aptos Display"/>
              </a:rPr>
              <a:t>Results — Retrieval Quality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078992"/>
            <a:ext cx="566928" cy="41148"/>
          </a:xfrm>
          <a:prstGeom prst="rect">
            <a:avLst/>
          </a:prstGeom>
          <a:solidFill>
            <a:srgbClr val="2A4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8016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3F5B74"/>
                </a:solidFill>
                <a:latin typeface="Aptos"/>
              </a:rPr>
              <a:t>02 OBJECTIVE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64208"/>
            <a:ext cx="11057839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8A5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847088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8A5410"/>
                </a:solidFill>
                <a:latin typeface="Aptos"/>
              </a:rPr>
              <a:t>NOT REPORTED, AND 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157984"/>
            <a:ext cx="1050919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8222D"/>
                </a:solidFill>
                <a:latin typeface="Aptos"/>
              </a:rPr>
              <a:t>The judge is capped at 8,000 tokens per minute and one grading prompt costs roughly 2,000, so a full four-metric sweep over both arms did not complete within the study period. This is a quota limit, not a design 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846320"/>
            <a:ext cx="1105783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596978"/>
                </a:solidFill>
                <a:latin typeface="Aptos"/>
              </a:rPr>
              <a:t>The harness is implemented and every answer is recorded; only the scoring pass is outstanding.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09360"/>
            <a:ext cx="11057839" cy="9525"/>
          </a:xfrm>
          <a:prstGeom prst="rect">
            <a:avLst/>
          </a:prstGeom>
          <a:solidFill>
            <a:srgbClr val="CD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596978"/>
                </a:solidFill>
                <a:latin typeface="Aptos"/>
              </a:rPr>
              <a:t>ISU-GEOBOT  ·  CAMPUS NAVIGATION AND FACULTY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596978"/>
                </a:solidFill>
                <a:latin typeface="Apto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 i="0">
                <a:solidFill>
                  <a:srgbClr val="18222D"/>
                </a:solidFill>
                <a:latin typeface="Aptos Display"/>
              </a:rPr>
              <a:t>System Screenshots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078992"/>
            <a:ext cx="566928" cy="41148"/>
          </a:xfrm>
          <a:prstGeom prst="rect">
            <a:avLst/>
          </a:prstGeom>
          <a:solidFill>
            <a:srgbClr val="2A4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8016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3F5B74"/>
                </a:solidFill>
                <a:latin typeface="Aptos"/>
              </a:rPr>
              <a:t>03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1056"/>
            <a:ext cx="2304288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96978"/>
                </a:solidFill>
                <a:latin typeface="Aptos"/>
              </a:rPr>
              <a:t>The deployed map. 34 published locations, drawn from the same records the assistant retrieves against.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22428" y="1234059"/>
            <a:ext cx="8088870" cy="4810506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-map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953" y="1243584"/>
            <a:ext cx="8069820" cy="47914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09360"/>
            <a:ext cx="11057839" cy="9525"/>
          </a:xfrm>
          <a:prstGeom prst="rect">
            <a:avLst/>
          </a:prstGeom>
          <a:solidFill>
            <a:srgbClr val="CD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596978"/>
                </a:solidFill>
                <a:latin typeface="Aptos"/>
              </a:rPr>
              <a:t>ISU-GEOBOT  ·  CAMPUS NAVIGATION AND FACULTY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596978"/>
                </a:solidFill>
                <a:latin typeface="Aptos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 i="0">
                <a:solidFill>
                  <a:srgbClr val="18222D"/>
                </a:solidFill>
                <a:latin typeface="Aptos Display"/>
              </a:rPr>
              <a:t>System Screenshots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078992"/>
            <a:ext cx="566928" cy="41148"/>
          </a:xfrm>
          <a:prstGeom prst="rect">
            <a:avLst/>
          </a:prstGeom>
          <a:solidFill>
            <a:srgbClr val="2A4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8016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3F5B74"/>
                </a:solidFill>
                <a:latin typeface="Aptos"/>
              </a:rPr>
              <a:t>03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1056"/>
            <a:ext cx="2304288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96978"/>
                </a:solidFill>
                <a:latin typeface="Aptos"/>
              </a:rPr>
              <a:t>A place card. The photograph is interface only — it never enters the retrieval corpus.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22428" y="1234059"/>
            <a:ext cx="8088870" cy="4810506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-place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953" y="1243584"/>
            <a:ext cx="8069820" cy="47914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09360"/>
            <a:ext cx="11057839" cy="9525"/>
          </a:xfrm>
          <a:prstGeom prst="rect">
            <a:avLst/>
          </a:prstGeom>
          <a:solidFill>
            <a:srgbClr val="CD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596978"/>
                </a:solidFill>
                <a:latin typeface="Aptos"/>
              </a:rPr>
              <a:t>ISU-GEOBOT  ·  CAMPUS NAVIGATION AND FACULTY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596978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 i="0">
                <a:solidFill>
                  <a:srgbClr val="18222D"/>
                </a:solidFill>
                <a:latin typeface="Aptos Display"/>
              </a:rPr>
              <a:t>The Refusal Is the 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078992"/>
            <a:ext cx="566928" cy="41148"/>
          </a:xfrm>
          <a:prstGeom prst="rect">
            <a:avLst/>
          </a:prstGeom>
          <a:solidFill>
            <a:srgbClr val="2A4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8016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3F5B74"/>
                </a:solidFill>
                <a:latin typeface="Aptos"/>
              </a:rPr>
              <a:t>03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27632"/>
            <a:ext cx="5577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 i="0">
                <a:solidFill>
                  <a:srgbClr val="18222D"/>
                </a:solidFill>
                <a:latin typeface="Aptos"/>
              </a:rPr>
              <a:t>Asked:   “Where is SIM-22?”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6543"/>
            <a:ext cx="5577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23113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1">
                <a:solidFill>
                  <a:srgbClr val="596978"/>
                </a:solidFill>
                <a:latin typeface="Aptos"/>
              </a:rPr>
              <a:t>“I’m sorry, but I don’t have that information.”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999232"/>
            <a:ext cx="219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3F5B74"/>
                </a:solidFill>
                <a:latin typeface="Aptos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999232"/>
            <a:ext cx="5349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8222D"/>
                </a:solidFill>
                <a:latin typeface="Aptos"/>
              </a:rPr>
              <a:t>Routed as navigation — the classifier never ran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19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3F5B74"/>
                </a:solidFill>
                <a:latin typeface="Aptos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566160"/>
            <a:ext cx="5349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8222D"/>
                </a:solidFill>
                <a:latin typeface="Aptos"/>
              </a:rPr>
              <a:t>Recorded classification time: 0.0 ms. Not computed, then hidden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133088"/>
            <a:ext cx="219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3F5B74"/>
                </a:solidFill>
                <a:latin typeface="Aptos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133088"/>
            <a:ext cx="5349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8222D"/>
                </a:solidFill>
                <a:latin typeface="Aptos"/>
              </a:rPr>
              <a:t>Worded exactly like the refusal for an unknown building, so using the rule reveals nothing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554480"/>
            <a:ext cx="522122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971800"/>
            <a:ext cx="4672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596978"/>
                </a:solidFill>
                <a:latin typeface="Aptos"/>
              </a:rPr>
              <a:t>[ 06-chat-refusal — not captured yet 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956048"/>
            <a:ext cx="11057839" cy="969264"/>
          </a:xfrm>
          <a:prstGeom prst="rect">
            <a:avLst/>
          </a:prstGeom>
          <a:solidFill>
            <a:srgbClr val="E0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084064"/>
            <a:ext cx="10326319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18222D"/>
                </a:solidFill>
                <a:latin typeface="Georgia"/>
              </a:rPr>
              <a:t>Across all twelve availability responses, no answer named a room, building, floor or office — and the egress filter recorded zero interceptions.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09360"/>
            <a:ext cx="11057839" cy="9525"/>
          </a:xfrm>
          <a:prstGeom prst="rect">
            <a:avLst/>
          </a:prstGeom>
          <a:solidFill>
            <a:srgbClr val="CD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596978"/>
                </a:solidFill>
                <a:latin typeface="Aptos"/>
              </a:rPr>
              <a:t>ISU-GEOBOT  ·  CAMPUS NAVIGATION AND FACULTY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596978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 i="0">
                <a:solidFill>
                  <a:srgbClr val="18222D"/>
                </a:solidFill>
                <a:latin typeface="Aptos Display"/>
              </a:rPr>
              <a:t>System Screenshots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078992"/>
            <a:ext cx="566928" cy="41148"/>
          </a:xfrm>
          <a:prstGeom prst="rect">
            <a:avLst/>
          </a:prstGeom>
          <a:solidFill>
            <a:srgbClr val="2A4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8016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3F5B74"/>
                </a:solidFill>
                <a:latin typeface="Aptos"/>
              </a:rPr>
              <a:t>03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1056"/>
            <a:ext cx="2304288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96978"/>
                </a:solidFill>
                <a:latin typeface="Aptos"/>
              </a:rPr>
              <a:t>The Admin Dashboard. Adding a location writes the map pin and its embedded place card in one operation, so the two cannot drift apart.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22428" y="1234059"/>
            <a:ext cx="8088870" cy="4810506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-admin-lo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953" y="1243584"/>
            <a:ext cx="8069820" cy="47914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09360"/>
            <a:ext cx="11057839" cy="9525"/>
          </a:xfrm>
          <a:prstGeom prst="rect">
            <a:avLst/>
          </a:prstGeom>
          <a:solidFill>
            <a:srgbClr val="CD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596978"/>
                </a:solidFill>
                <a:latin typeface="Aptos"/>
              </a:rPr>
              <a:t>ISU-GEOBOT  ·  CAMPUS NAVIGATION AND FACULTY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596978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 i="0">
                <a:solidFill>
                  <a:srgbClr val="18222D"/>
                </a:solidFill>
                <a:latin typeface="Aptos Display"/>
              </a:rPr>
              <a:t>System Screenshots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078992"/>
            <a:ext cx="566928" cy="41148"/>
          </a:xfrm>
          <a:prstGeom prst="rect">
            <a:avLst/>
          </a:prstGeom>
          <a:solidFill>
            <a:srgbClr val="2A4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8016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3F5B74"/>
                </a:solidFill>
                <a:latin typeface="Aptos"/>
              </a:rPr>
              <a:t>03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1056"/>
            <a:ext cx="2304288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96978"/>
                </a:solidFill>
                <a:latin typeface="Aptos"/>
              </a:rPr>
              <a:t>Schedule import. Two steps: the preview returns a checksum, and the apply is refused unless that checksum comes back.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22428" y="1234059"/>
            <a:ext cx="8088870" cy="4810506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7-admin-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953" y="1243584"/>
            <a:ext cx="8069820" cy="47914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09360"/>
            <a:ext cx="11057839" cy="9525"/>
          </a:xfrm>
          <a:prstGeom prst="rect">
            <a:avLst/>
          </a:prstGeom>
          <a:solidFill>
            <a:srgbClr val="CD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596978"/>
                </a:solidFill>
                <a:latin typeface="Aptos"/>
              </a:rPr>
              <a:t>ISU-GEOBOT  ·  CAMPUS NAVIGATION AND FACULTY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596978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 i="0">
                <a:solidFill>
                  <a:srgbClr val="18222D"/>
                </a:solidFill>
                <a:latin typeface="Aptos Display"/>
              </a:rPr>
              <a:t>System Screenshots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078992"/>
            <a:ext cx="566928" cy="41148"/>
          </a:xfrm>
          <a:prstGeom prst="rect">
            <a:avLst/>
          </a:prstGeom>
          <a:solidFill>
            <a:srgbClr val="2A4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8016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3F5B74"/>
                </a:solidFill>
                <a:latin typeface="Aptos"/>
              </a:rPr>
              <a:t>03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1056"/>
            <a:ext cx="2304288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96978"/>
                </a:solidFill>
                <a:latin typeface="Aptos"/>
              </a:rPr>
              <a:t>Announcement intake. OCR text is extracted in the browser and never stored; only the resolved event is written.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22428" y="1234059"/>
            <a:ext cx="8088870" cy="4810506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8-admin-oc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953" y="1243584"/>
            <a:ext cx="8069820" cy="47914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09360"/>
            <a:ext cx="11057839" cy="9525"/>
          </a:xfrm>
          <a:prstGeom prst="rect">
            <a:avLst/>
          </a:prstGeom>
          <a:solidFill>
            <a:srgbClr val="CD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596978"/>
                </a:solidFill>
                <a:latin typeface="Aptos"/>
              </a:rPr>
              <a:t>ISU-GEOBOT  ·  CAMPUS NAVIGATION AND FACULTY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596978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 i="0">
                <a:solidFill>
                  <a:srgbClr val="18222D"/>
                </a:solidFill>
                <a:latin typeface="Aptos Display"/>
              </a:rPr>
              <a:t>System Screenshots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078992"/>
            <a:ext cx="566928" cy="41148"/>
          </a:xfrm>
          <a:prstGeom prst="rect">
            <a:avLst/>
          </a:prstGeom>
          <a:solidFill>
            <a:srgbClr val="2A4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8016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3F5B74"/>
                </a:solidFill>
                <a:latin typeface="Aptos"/>
              </a:rPr>
              <a:t>04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1056"/>
            <a:ext cx="2304288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96978"/>
                </a:solidFill>
                <a:latin typeface="Aptos"/>
              </a:rPr>
              <a:t>Field observation capture. The observed status starts empty and the system estimate stays hidden until the observer commits — the rebuilt form.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22428" y="1234059"/>
            <a:ext cx="8088870" cy="4810506"/>
          </a:xfrm>
          <a:prstGeom prst="rect">
            <a:avLst/>
          </a:prstGeom>
          <a:solidFill>
            <a:srgbClr val="FFFFFF"/>
          </a:solidFill>
          <a:ln w="12700">
            <a:solidFill>
              <a:srgbClr val="CD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-admin-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953" y="1243584"/>
            <a:ext cx="8069820" cy="47914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09360"/>
            <a:ext cx="11057839" cy="9525"/>
          </a:xfrm>
          <a:prstGeom prst="rect">
            <a:avLst/>
          </a:prstGeom>
          <a:solidFill>
            <a:srgbClr val="CD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596978"/>
                </a:solidFill>
                <a:latin typeface="Aptos"/>
              </a:rPr>
              <a:t>ISU-GEOBOT  ·  CAMPUS NAVIGATION AND FACULTY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596978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 i="0">
                <a:solidFill>
                  <a:srgbClr val="18222D"/>
                </a:solidFill>
                <a:latin typeface="Aptos Display"/>
              </a:rPr>
              <a:t>Expected Contribution / 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078992"/>
            <a:ext cx="566928" cy="41148"/>
          </a:xfrm>
          <a:prstGeom prst="rect">
            <a:avLst/>
          </a:prstGeom>
          <a:solidFill>
            <a:srgbClr val="2A4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8222D"/>
                </a:solidFill>
                <a:latin typeface="Georgia"/>
              </a:rPr>
              <a:t>The contribution is not a faster assistant. It is an assistant that cannot disclose a person’s location, by construction.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31136"/>
            <a:ext cx="548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3F5B74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231136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18222D"/>
                </a:solidFill>
                <a:latin typeface="Aptos"/>
              </a:rPr>
              <a:t>Schedule-grounded availability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231136"/>
            <a:ext cx="6858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96978"/>
                </a:solidFill>
                <a:latin typeface="Aptos"/>
              </a:rPr>
              <a:t>Availability is answered from a classifier over timetable and behavioural features, not inferred from retrieved prose.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999232"/>
            <a:ext cx="548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3F5B74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299923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18222D"/>
                </a:solidFill>
                <a:latin typeface="Aptos"/>
              </a:rPr>
              <a:t>Enforced disclosure limit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999232"/>
            <a:ext cx="6858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96978"/>
                </a:solidFill>
                <a:latin typeface="Aptos"/>
              </a:rPr>
              <a:t>Three coarse states, never a room. The gates run before prediction, so a paused lecturer’s estimate is never computed at all.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767328"/>
            <a:ext cx="548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3F5B74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3767328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18222D"/>
                </a:solidFill>
                <a:latin typeface="Aptos"/>
              </a:rPr>
              <a:t>Honest measurement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3767328"/>
            <a:ext cx="6858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96978"/>
                </a:solidFill>
                <a:latin typeface="Aptos"/>
              </a:rPr>
              <a:t>Generated data is stamped synthetic end to end, and the instruments refuse to score what the data cannot support.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535424"/>
            <a:ext cx="548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3F5B74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535424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18222D"/>
                </a:solidFill>
                <a:latin typeface="Aptos"/>
              </a:rPr>
              <a:t>Reproducible artifacts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4535424"/>
            <a:ext cx="6858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96978"/>
                </a:solidFill>
                <a:latin typeface="Aptos"/>
              </a:rPr>
              <a:t>Every figure in Chapter 4 is emitted by a script from the database rather than transcribed by hand.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413248"/>
            <a:ext cx="11057839" cy="841248"/>
          </a:xfrm>
          <a:prstGeom prst="rect">
            <a:avLst/>
          </a:prstGeom>
          <a:solidFill>
            <a:srgbClr val="2A4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5541264"/>
            <a:ext cx="10326319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A system that answered faster by guessing where someone is would not be an improvement.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4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F5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06040"/>
            <a:ext cx="9966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5200" b="1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8620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0" i="0">
                <a:solidFill>
                  <a:srgbClr val="E0E7EC"/>
                </a:solidFill>
                <a:latin typeface="Aptos"/>
              </a:rPr>
              <a:t>Questions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