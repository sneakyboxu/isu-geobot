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E6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737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E6E5C"/>
                </a:solidFill>
                <a:latin typeface="Calibri"/>
              </a:rPr>
              <a:t>SYSTEM DEFENSE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103120"/>
            <a:ext cx="10058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141A19"/>
                </a:solidFill>
                <a:latin typeface="Georgia"/>
              </a:rPr>
              <a:t>ISU-GeoBot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017520"/>
            <a:ext cx="9509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586460"/>
                </a:solidFill>
                <a:latin typeface="Calibri"/>
              </a:rPr>
              <a:t>A campus navigation and faculty-availability assistant integrating a Random Forest classifier into a Retrieval-Augmented Generation pipeline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4160520"/>
            <a:ext cx="2011680" cy="19050"/>
          </a:xfrm>
          <a:prstGeom prst="rect">
            <a:avLst/>
          </a:prstGeom>
          <a:solidFill>
            <a:srgbClr val="D5D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3891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86460"/>
                </a:solidFill>
                <a:latin typeface="Calibri"/>
              </a:rPr>
              <a:t>Christian Paul Simbulan  ·  Michael Allan Almario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586460"/>
                </a:solidFill>
                <a:latin typeface="Calibri"/>
              </a:rPr>
              <a:t>College of Computing Studies, Information and Communication Technology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586460"/>
                </a:solidFill>
                <a:latin typeface="Calibri"/>
              </a:rPr>
              <a:t>Isabela State University — Echague Main Campus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E6E5C"/>
                </a:solidFill>
                <a:latin typeface="Calibri"/>
              </a:rPr>
              <a:t>THE STUDY IN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87495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41A19"/>
                </a:solidFill>
                <a:latin typeface="Georgia"/>
              </a:rPr>
              <a:t>The problem, and what was built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17320"/>
            <a:ext cx="10874959" cy="9525"/>
          </a:xfrm>
          <a:prstGeom prst="rect">
            <a:avLst/>
          </a:prstGeom>
          <a:solidFill>
            <a:srgbClr val="D5D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83080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141A19"/>
                </a:solidFill>
                <a:latin typeface="Calibri"/>
              </a:rPr>
              <a:t>A student looking for a lecturer has two questions, and the campus answers neither well: where is the building, and is the lecturer there now?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141A19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141A19"/>
                </a:solidFill>
                <a:latin typeface="Calibri"/>
              </a:rPr>
              <a:t>The second question is the hard one, because answering it carelessly turns a navigation tool into a tracking tool.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82880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0E6E5C"/>
                </a:solidFill>
                <a:latin typeface="Calibri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94576" y="1828800"/>
            <a:ext cx="46268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41A19"/>
                </a:solidFill>
                <a:latin typeface="Calibri"/>
              </a:rPr>
              <a:t>34 campus locations on an interactive 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249424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0E6E5C"/>
                </a:solidFill>
                <a:latin typeface="Calibri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94576" y="2249424"/>
            <a:ext cx="46268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41A19"/>
                </a:solidFill>
                <a:latin typeface="Calibri"/>
              </a:rPr>
              <a:t>37 documents, 232 embedded passages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670048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0E6E5C"/>
                </a:solidFill>
                <a:latin typeface="Calibri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94576" y="2670048"/>
            <a:ext cx="46268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41A19"/>
                </a:solidFill>
                <a:latin typeface="Calibri"/>
              </a:rPr>
              <a:t>425 real CCSICT class blocks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090672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0E6E5C"/>
                </a:solidFill>
                <a:latin typeface="Calibri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94576" y="3090672"/>
            <a:ext cx="46268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41A19"/>
                </a:solidFill>
                <a:latin typeface="Calibri"/>
              </a:rPr>
              <a:t>Availability as one of three coarse states — never a room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526280"/>
            <a:ext cx="10874959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E6E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68172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E6E5C"/>
                </a:solidFill>
                <a:latin typeface="Calibri"/>
              </a:rPr>
              <a:t>THE CONTRIBUTION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4983480"/>
            <a:ext cx="1032631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41A19"/>
                </a:solidFill>
                <a:latin typeface="Calibri"/>
              </a:rPr>
              <a:t>A retrieval pipeline that answers availability questions from a schedule-grounded classifier instead of from prose — under a masking rule that makes disclosing a person’s physical location impossible by construction, not by prompt instruction.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E6E5C"/>
                </a:solidFill>
                <a:latin typeface="Calibri"/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87495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41A19"/>
                </a:solidFill>
                <a:latin typeface="Georgia"/>
              </a:rPr>
              <a:t>Three services, one database, one hosted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17320"/>
            <a:ext cx="10874959" cy="9525"/>
          </a:xfrm>
          <a:prstGeom prst="rect">
            <a:avLst/>
          </a:prstGeom>
          <a:solidFill>
            <a:srgbClr val="D5D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10874959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38100" cy="804672"/>
          </a:xfrm>
          <a:prstGeom prst="rect">
            <a:avLst/>
          </a:prstGeom>
          <a:solidFill>
            <a:srgbClr val="0E6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11096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E6E5C"/>
                </a:solidFill>
                <a:latin typeface="Calibri"/>
              </a:rPr>
              <a:t>React · port 5173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84448" y="1911096"/>
            <a:ext cx="767455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86460"/>
                </a:solidFill>
                <a:latin typeface="Calibri"/>
              </a:rPr>
              <a:t>Leaflet map, chat, admin dashboard. Holds no secrets.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679192"/>
            <a:ext cx="10874959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2679192"/>
            <a:ext cx="38100" cy="804672"/>
          </a:xfrm>
          <a:prstGeom prst="rect">
            <a:avLst/>
          </a:prstGeom>
          <a:solidFill>
            <a:srgbClr val="0E6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80720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E6E5C"/>
                </a:solidFill>
                <a:latin typeface="Calibri"/>
              </a:rPr>
              <a:t>Express · port 4000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448" y="2807208"/>
            <a:ext cx="767455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86460"/>
                </a:solidFill>
                <a:latin typeface="Calibri"/>
              </a:rPr>
              <a:t>The only process with database credentials. Routing, retrieval, context fusion, the masking boundary.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575304"/>
            <a:ext cx="10874959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3575304"/>
            <a:ext cx="38100" cy="804672"/>
          </a:xfrm>
          <a:prstGeom prst="rect">
            <a:avLst/>
          </a:prstGeom>
          <a:solidFill>
            <a:srgbClr val="0E6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0332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E6E5C"/>
                </a:solidFill>
                <a:latin typeface="Calibri"/>
              </a:rPr>
              <a:t>Flask · port 5001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4448" y="3703320"/>
            <a:ext cx="767455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86460"/>
                </a:solidFill>
                <a:latin typeface="Calibri"/>
              </a:rPr>
              <a:t>all-MiniLM-L6-v2 embedder and the Random Forest. Python, because both models are Python.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4471416"/>
            <a:ext cx="10874959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471416"/>
            <a:ext cx="38100" cy="804672"/>
          </a:xfrm>
          <a:prstGeom prst="rect">
            <a:avLst/>
          </a:prstGeom>
          <a:solidFill>
            <a:srgbClr val="8A96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599432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8A9692"/>
                </a:solidFill>
                <a:latin typeface="Calibri"/>
              </a:rPr>
              <a:t>Supabase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84448" y="4599432"/>
            <a:ext cx="767455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86460"/>
                </a:solidFill>
                <a:latin typeface="Calibri"/>
              </a:rPr>
              <a:t>PostgreSQL + pgvector. 27 tables in the geobot schema.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5367528"/>
            <a:ext cx="10874959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5367528"/>
            <a:ext cx="38100" cy="804672"/>
          </a:xfrm>
          <a:prstGeom prst="rect">
            <a:avLst/>
          </a:prstGeom>
          <a:solidFill>
            <a:srgbClr val="8A96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4955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8A9692"/>
                </a:solidFill>
                <a:latin typeface="Calibri"/>
              </a:rPr>
              <a:t>Groq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84448" y="5495544"/>
            <a:ext cx="767455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86460"/>
                </a:solidFill>
                <a:latin typeface="Calibri"/>
              </a:rPr>
              <a:t>openai/gpt-oss-120b at temperature 0. Writes the sentence only.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263640"/>
            <a:ext cx="108749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8A9692"/>
                </a:solidFill>
                <a:latin typeface="Calibri"/>
              </a:rPr>
              <a:t>Split because the embedder and the forest are Python libraries with no Node equivalent, and a 135 MB model should load once, not on every API restart.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E6E5C"/>
                </a:solidFill>
                <a:latin typeface="Calibri"/>
              </a:rPr>
              <a:t>AI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87495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41A19"/>
                </a:solidFill>
                <a:latin typeface="Georgia"/>
              </a:rPr>
              <a:t>What happens between the question and the answer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17320"/>
            <a:ext cx="10874959" cy="9525"/>
          </a:xfrm>
          <a:prstGeom prst="rect">
            <a:avLst/>
          </a:prstGeom>
          <a:solidFill>
            <a:srgbClr val="D5D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37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E6E5C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25296" y="17373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A19"/>
                </a:solidFill>
                <a:latin typeface="Calibri"/>
              </a:rPr>
              <a:t>Route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44368" y="1737360"/>
            <a:ext cx="858895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586460"/>
                </a:solidFill>
                <a:latin typeface="Calibri"/>
              </a:rPr>
              <a:t>A gazetteer of the faculty roster plus an intent lexicon answers one binary question: does this need an availability status? No LLM call — 2 ms, and deterministic.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63347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E6E5C"/>
                </a:solidFill>
                <a:latin typeface="Calibr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6" y="263347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A19"/>
                </a:solidFill>
                <a:latin typeface="Calibri"/>
              </a:rPr>
              <a:t>Retrieve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44368" y="2633472"/>
            <a:ext cx="858895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586460"/>
                </a:solidFill>
                <a:latin typeface="Calibri"/>
              </a:rPr>
              <a:t>The query is embedded (384 dims, L2-normalised) and compared to every chunk by exact cosine. Top 5, floor 0.25. Runs in BOTH architectures, always.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529584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E6E5C"/>
                </a:solidFill>
                <a:latin typeface="Calibri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25296" y="3529584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A19"/>
                </a:solidFill>
                <a:latin typeface="Calibri"/>
              </a:rPr>
              <a:t>Classify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4368" y="3529584"/>
            <a:ext cx="858895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586460"/>
                </a:solidFill>
                <a:latin typeface="Calibri"/>
              </a:rPr>
              <a:t>Availability only, and only in the Enhanced arm. Two gates run BEFORE the forest: signed in, and the lecturer has not paused disclosure.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425696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E6E5C"/>
                </a:solidFill>
                <a:latin typeface="Calibri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442569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A19"/>
                </a:solidFill>
                <a:latin typeface="Calibri"/>
              </a:rPr>
              <a:t>Fuse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44368" y="4425696"/>
            <a:ext cx="858895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586460"/>
                </a:solidFill>
                <a:latin typeface="Calibri"/>
              </a:rPr>
              <a:t>Retrieved passages and the masked status become one prompt. Three sources, one context.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5321808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E6E5C"/>
                </a:solidFill>
                <a:latin typeface="Calibri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532180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A19"/>
                </a:solidFill>
                <a:latin typeface="Calibri"/>
              </a:rPr>
              <a:t>Mask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44368" y="5321808"/>
            <a:ext cx="858895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586460"/>
                </a:solidFill>
                <a:latin typeface="Calibri"/>
              </a:rPr>
              <a:t>The response is checked for eight forbidden keys — probabilities, room_label, embeddings. A backstop, not the primary control.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E6E5C"/>
                </a:solidFill>
                <a:latin typeface="Calibri"/>
              </a:rPr>
              <a:t>OBJECTIVE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87495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41A19"/>
                </a:solidFill>
                <a:latin typeface="Georgia"/>
              </a:rPr>
              <a:t>Integrate a Random Forest into the RAG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17320"/>
            <a:ext cx="10874959" cy="9525"/>
          </a:xfrm>
          <a:prstGeom prst="rect">
            <a:avLst/>
          </a:prstGeom>
          <a:solidFill>
            <a:srgbClr val="D5D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27632"/>
            <a:ext cx="1225296" cy="310896"/>
          </a:xfrm>
          <a:prstGeom prst="rect">
            <a:avLst/>
          </a:prstGeom>
          <a:solidFill>
            <a:srgbClr val="0E6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655064"/>
            <a:ext cx="12252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ACHIEVED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12848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0E6E5C"/>
                </a:solidFill>
                <a:latin typeface="Calibri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2212848"/>
            <a:ext cx="52669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A19"/>
                </a:solidFill>
                <a:latin typeface="Calibri"/>
              </a:rPr>
              <a:t>The classifier is reached only by an availability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871216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0E6E5C"/>
                </a:solidFill>
                <a:latin typeface="Calibri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2871216"/>
            <a:ext cx="52669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A19"/>
                </a:solidFill>
                <a:latin typeface="Calibri"/>
              </a:rPr>
              <a:t>Eight schedule features plus three attendance features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529584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0E6E5C"/>
                </a:solidFill>
                <a:latin typeface="Calibri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3529584"/>
            <a:ext cx="52669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A19"/>
                </a:solidFill>
                <a:latin typeface="Calibri"/>
              </a:rPr>
              <a:t>Its output is masked to one of three states before it leaves the server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187952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0E6E5C"/>
                </a:solidFill>
                <a:latin typeface="Calibri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" y="4187952"/>
            <a:ext cx="52669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A19"/>
                </a:solidFill>
                <a:latin typeface="Calibri"/>
              </a:rPr>
              <a:t>Answered 5 of 6 availability questions; the baseline answered 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1783080"/>
            <a:ext cx="50292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93408" y="1965960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8A9692"/>
                </a:solidFill>
                <a:latin typeface="Calibri"/>
              </a:rPr>
              <a:t>SCREENSHOT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93408" y="2258568"/>
            <a:ext cx="4626864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86460"/>
                </a:solidFill>
                <a:latin typeface="Calibri"/>
              </a:rPr>
              <a:t>Capture: the assistant answering an availability question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586460"/>
                </a:solidFill>
                <a:latin typeface="Calibri"/>
              </a:rPr>
              <a:t>Type: "Is SIM-33 available for consultation right now?"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586460"/>
                </a:solidFill>
                <a:latin typeface="Calibri"/>
              </a:rPr>
              <a:t>Shows: a coarse state and a next consultation window, with no location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E6E5C"/>
                </a:solidFill>
                <a:latin typeface="Calibri"/>
              </a:rPr>
              <a:t>OBJECTIVE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87495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41A19"/>
                </a:solidFill>
                <a:latin typeface="Georgia"/>
              </a:rPr>
              <a:t>Compare the standard and Enhanced architectures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17320"/>
            <a:ext cx="10874959" cy="9525"/>
          </a:xfrm>
          <a:prstGeom prst="rect">
            <a:avLst/>
          </a:prstGeom>
          <a:solidFill>
            <a:srgbClr val="D5D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27632"/>
            <a:ext cx="1106424" cy="310896"/>
          </a:xfrm>
          <a:prstGeom prst="rect">
            <a:avLst/>
          </a:prstGeom>
          <a:solidFill>
            <a:srgbClr val="8A54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655064"/>
            <a:ext cx="11064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PARTIAL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12848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0E6E5C"/>
                </a:solidFill>
                <a:latin typeface="Calibri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2212848"/>
            <a:ext cx="52669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A19"/>
                </a:solidFill>
                <a:latin typeface="Calibri"/>
              </a:rPr>
              <a:t>39 paired queries, one run, one prompt version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871216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0E6E5C"/>
                </a:solidFill>
                <a:latin typeface="Calibri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2871216"/>
            <a:ext cx="52669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A19"/>
                </a:solidFill>
                <a:latin typeface="Calibri"/>
              </a:rPr>
              <a:t>Per-stage latency measured in the pipeline itself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529584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0E6E5C"/>
                </a:solidFill>
                <a:latin typeface="Calibri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3529584"/>
            <a:ext cx="52669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A19"/>
                </a:solidFill>
                <a:latin typeface="Calibri"/>
              </a:rPr>
              <a:t>Standard answered 0 of 6 availability questions; Enhanced answered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187952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0E6E5C"/>
                </a:solidFill>
                <a:latin typeface="Calibri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" y="4187952"/>
            <a:ext cx="52669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A19"/>
                </a:solidFill>
                <a:latin typeface="Calibri"/>
              </a:rPr>
              <a:t>RAGAS scoring limited by judge throughput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1783080"/>
            <a:ext cx="50292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93408" y="1965960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8A9692"/>
                </a:solidFill>
                <a:latin typeface="Calibri"/>
              </a:rPr>
              <a:t>SCREENSHOT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93408" y="2258568"/>
            <a:ext cx="4626864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86460"/>
                </a:solidFill>
                <a:latin typeface="Calibri"/>
              </a:rPr>
              <a:t>Capture: the response-time table, or the comparison view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586460"/>
                </a:solidFill>
                <a:latin typeface="Calibri"/>
              </a:rPr>
              <a:t>Shows: the per-stage difference between the two arms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5230368"/>
            <a:ext cx="10874959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8A54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358384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8A5410"/>
                </a:solidFill>
                <a:latin typeface="Calibri"/>
              </a:rPr>
              <a:t>SAY THIS BEFORE THEY ASK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614416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141A19"/>
                </a:solidFill>
                <a:latin typeface="Calibri"/>
              </a:rPr>
              <a:t>RAGAS scores are not reported. The judge is capped at 8,000 tokens per minute and a grading prompt costs about 2,000, so a full sweep did not finish inside the study period. That is a quota limit, not a design one.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E6E5C"/>
                </a:solidFill>
                <a:latin typeface="Calibri"/>
              </a:rPr>
              <a:t>OBJECTIVE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87495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41A19"/>
                </a:solidFill>
                <a:latin typeface="Georgia"/>
              </a:rPr>
              <a:t>Deploy the Enhanced architecture in the web 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17320"/>
            <a:ext cx="10874959" cy="9525"/>
          </a:xfrm>
          <a:prstGeom prst="rect">
            <a:avLst/>
          </a:prstGeom>
          <a:solidFill>
            <a:srgbClr val="D5D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27632"/>
            <a:ext cx="1225296" cy="310896"/>
          </a:xfrm>
          <a:prstGeom prst="rect">
            <a:avLst/>
          </a:prstGeom>
          <a:solidFill>
            <a:srgbClr val="0E6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655064"/>
            <a:ext cx="12252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ACHIEVED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12848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0E6E5C"/>
                </a:solidFill>
                <a:latin typeface="Calibri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2212848"/>
            <a:ext cx="52669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A19"/>
                </a:solidFill>
                <a:latin typeface="Calibri"/>
              </a:rPr>
              <a:t>34 published locations on a live interactive 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871216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0E6E5C"/>
                </a:solidFill>
                <a:latin typeface="Calibri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2871216"/>
            <a:ext cx="52669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A19"/>
                </a:solidFill>
                <a:latin typeface="Calibri"/>
              </a:rPr>
              <a:t>Admin Dashboard: locations, validation and schedule import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529584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0E6E5C"/>
                </a:solidFill>
                <a:latin typeface="Calibri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3529584"/>
            <a:ext cx="52669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A19"/>
                </a:solidFill>
                <a:latin typeface="Calibri"/>
              </a:rPr>
              <a:t>136 automated tests, 31 of them against the masking 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187952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0E6E5C"/>
                </a:solidFill>
                <a:latin typeface="Calibri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" y="4187952"/>
            <a:ext cx="52669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A19"/>
                </a:solidFill>
                <a:latin typeface="Calibri"/>
              </a:rPr>
              <a:t>Row-level security forced on all 27 tables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1783080"/>
            <a:ext cx="50292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93408" y="1965960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8A9692"/>
                </a:solidFill>
                <a:latin typeface="Calibri"/>
              </a:rPr>
              <a:t>SCREENSHOT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93408" y="2258568"/>
            <a:ext cx="4626864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86460"/>
                </a:solidFill>
                <a:latin typeface="Calibri"/>
              </a:rPr>
              <a:t>Capture: the campus map with a place card open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586460"/>
                </a:solidFill>
                <a:latin typeface="Calibri"/>
              </a:rPr>
              <a:t>Shows: the deployed system a visitor actually uses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E6E5C"/>
                </a:solidFill>
                <a:latin typeface="Calibri"/>
              </a:rPr>
              <a:t>OBJECTIVE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87495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41A19"/>
                </a:solidFill>
                <a:latin typeface="Georgia"/>
              </a:rPr>
              <a:t>Evaluate the functional accuracy of the estimates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17320"/>
            <a:ext cx="10874959" cy="9525"/>
          </a:xfrm>
          <a:prstGeom prst="rect">
            <a:avLst/>
          </a:prstGeom>
          <a:solidFill>
            <a:srgbClr val="D5D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27632"/>
            <a:ext cx="1106424" cy="310896"/>
          </a:xfrm>
          <a:prstGeom prst="rect">
            <a:avLst/>
          </a:prstGeom>
          <a:solidFill>
            <a:srgbClr val="8A54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655064"/>
            <a:ext cx="11064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PARTIAL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12848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0E6E5C"/>
                </a:solidFill>
                <a:latin typeface="Calibri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2212848"/>
            <a:ext cx="52669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A19"/>
                </a:solidFill>
                <a:latin typeface="Calibri"/>
              </a:rPr>
              <a:t>Accuracy against the simulation cohort IS measured and reported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871216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0E6E5C"/>
                </a:solidFill>
                <a:latin typeface="Calibri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2871216"/>
            <a:ext cx="52669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A19"/>
                </a:solidFill>
                <a:latin typeface="Calibri"/>
              </a:rPr>
              <a:t>96.77% accuracy, 0.9458 macro F1 (Table 4.3)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529584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0E6E5C"/>
                </a:solidFill>
                <a:latin typeface="Calibri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3529584"/>
            <a:ext cx="52669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A19"/>
                </a:solidFill>
                <a:latin typeface="Calibri"/>
              </a:rPr>
              <a:t>Field observation: 24 blind-capture records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187952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0E6E5C"/>
                </a:solidFill>
                <a:latin typeface="Calibri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" y="4187952"/>
            <a:ext cx="52669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A19"/>
                </a:solidFill>
                <a:latin typeface="Calibri"/>
              </a:rPr>
              <a:t>The instrument works; the sample is short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1783080"/>
            <a:ext cx="50292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93408" y="1965960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8A9692"/>
                </a:solidFill>
                <a:latin typeface="Calibri"/>
              </a:rPr>
              <a:t>SCREENSHOT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93408" y="2258568"/>
            <a:ext cx="4626864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86460"/>
                </a:solidFill>
                <a:latin typeface="Calibri"/>
              </a:rPr>
              <a:t>Capture: the faculty validation tab in the Admin Dashboard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586460"/>
                </a:solidFill>
                <a:latin typeface="Calibri"/>
              </a:rPr>
              <a:t>Shows: the capture form that records each observation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5230368"/>
            <a:ext cx="10874959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8A54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358384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8A5410"/>
                </a:solidFill>
                <a:latin typeface="Calibri"/>
              </a:rPr>
              <a:t>SAY THIS BEFORE THEY ASK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614416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141A19"/>
                </a:solidFill>
                <a:latin typeface="Calibri"/>
              </a:rPr>
              <a:t>No accuracy figure is claimed from the field sample. At 24 blind observations the smallest class holds one record, so the analysis script refuses to emit a score — and 84 earlier records were excluded because the form had pre-filled the system’s own answer.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E6E5C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87495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41A19"/>
                </a:solidFill>
                <a:latin typeface="Georgia"/>
              </a:rPr>
              <a:t>The enhancement costs latency and buys capability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17320"/>
            <a:ext cx="10874959" cy="9525"/>
          </a:xfrm>
          <a:prstGeom prst="rect">
            <a:avLst/>
          </a:prstGeom>
          <a:solidFill>
            <a:srgbClr val="D5D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28800"/>
            <a:ext cx="55778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901952"/>
            <a:ext cx="2011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586460"/>
                </a:solidFill>
                <a:latin typeface="Calibri"/>
              </a:rPr>
              <a:t>Stage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44368" y="1901952"/>
            <a:ext cx="2011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586460"/>
                </a:solidFill>
                <a:latin typeface="Calibri"/>
              </a:rPr>
              <a:t>Standard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24528" y="1901952"/>
            <a:ext cx="2011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586460"/>
                </a:solidFill>
                <a:latin typeface="Calibri"/>
              </a:rPr>
              <a:t>Enhanced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04688" y="1901952"/>
            <a:ext cx="2011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586460"/>
                </a:solidFill>
                <a:latin typeface="Calibri"/>
              </a:rPr>
              <a:t>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59152"/>
            <a:ext cx="2011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41A19"/>
                </a:solidFill>
                <a:latin typeface="Calibri"/>
              </a:rPr>
              <a:t>Presence guard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44368" y="2359152"/>
            <a:ext cx="2011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41A19"/>
                </a:solidFill>
                <a:latin typeface="Calibri"/>
              </a:rPr>
              <a:t>0.0 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24528" y="2359152"/>
            <a:ext cx="2011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41A19"/>
                </a:solidFill>
                <a:latin typeface="Calibri"/>
              </a:rPr>
              <a:t>30.3 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04688" y="2359152"/>
            <a:ext cx="2011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41A19"/>
                </a:solidFill>
                <a:latin typeface="Calibri"/>
              </a:rPr>
              <a:t>+30.3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816352"/>
            <a:ext cx="2011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41A19"/>
                </a:solidFill>
                <a:latin typeface="Calibri"/>
              </a:rPr>
              <a:t>Random Forest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44368" y="2816352"/>
            <a:ext cx="2011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41A19"/>
                </a:solidFill>
                <a:latin typeface="Calibri"/>
              </a:rPr>
              <a:t>0.0 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24528" y="2816352"/>
            <a:ext cx="2011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41A19"/>
                </a:solidFill>
                <a:latin typeface="Calibri"/>
              </a:rPr>
              <a:t>9.1 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04688" y="2816352"/>
            <a:ext cx="2011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41A19"/>
                </a:solidFill>
                <a:latin typeface="Calibri"/>
              </a:rPr>
              <a:t>+9.1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3273552"/>
            <a:ext cx="2011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A19"/>
                </a:solidFill>
                <a:latin typeface="Calibri"/>
              </a:rPr>
              <a:t>End-to-end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44368" y="3273552"/>
            <a:ext cx="2011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A19"/>
                </a:solidFill>
                <a:latin typeface="Calibri"/>
              </a:rPr>
              <a:t>1,315.6 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24528" y="3273552"/>
            <a:ext cx="2011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A19"/>
                </a:solidFill>
                <a:latin typeface="Calibri"/>
              </a:rPr>
              <a:t>1,484.5 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3273552"/>
            <a:ext cx="2011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A19"/>
                </a:solidFill>
                <a:latin typeface="Calibri"/>
              </a:rPr>
              <a:t>+168.9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1783080"/>
            <a:ext cx="50292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E6E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29984" y="19385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0E6E5C"/>
                </a:solidFill>
                <a:latin typeface="Calibri"/>
              </a:rPr>
              <a:t>THE FINDING THAT MATTERS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9984" y="228600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141A19"/>
                </a:solidFill>
                <a:latin typeface="Georgia"/>
              </a:rPr>
              <a:t>0 of 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9984" y="288036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586460"/>
                </a:solidFill>
                <a:latin typeface="Calibri"/>
              </a:rPr>
              <a:t>availability questions answered by the standard architecture.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586460"/>
                </a:solidFill>
                <a:latin typeface="Calibri"/>
              </a:rPr>
              <a:t>The Enhanced architecture answered 5.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4846320"/>
            <a:ext cx="1087495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41A19"/>
                </a:solidFill>
                <a:latin typeface="Calibri"/>
              </a:rPr>
              <a:t>The Enhanced arm is slower, and that is the honest result. Baseline RAG cannot reach a timetable, so it correctly refuses every availability question. What the extra time buys is an entire class of question the baseline cannot answer at all — answered under an enforced disclosure limit.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E6E5C"/>
                </a:solidFill>
                <a:latin typeface="Calibri"/>
              </a:rPr>
              <a:t>PRIVACY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87495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41A19"/>
                </a:solidFill>
                <a:latin typeface="Georgia"/>
              </a:rPr>
              <a:t>The refusal is the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17320"/>
            <a:ext cx="10874959" cy="9525"/>
          </a:xfrm>
          <a:prstGeom prst="rect">
            <a:avLst/>
          </a:prstGeom>
          <a:solidFill>
            <a:srgbClr val="D5D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1A19"/>
                </a:solidFill>
                <a:latin typeface="Calibri"/>
              </a:rPr>
              <a:t>Asked: "Where is SIM-22?"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331720"/>
            <a:ext cx="54864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2514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586460"/>
                </a:solidFill>
                <a:latin typeface="Calibri"/>
              </a:rPr>
              <a:t>“I’m sorry, but I don’t have that information.”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47472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0E6E5C"/>
                </a:solidFill>
                <a:latin typeface="Calibri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3474720"/>
            <a:ext cx="51755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A19"/>
                </a:solidFill>
                <a:latin typeface="Calibri"/>
              </a:rPr>
              <a:t>Routed as navigation — the classifier never ran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041648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0E6E5C"/>
                </a:solidFill>
                <a:latin typeface="Calibri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4041648"/>
            <a:ext cx="51755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A19"/>
                </a:solidFill>
                <a:latin typeface="Calibri"/>
              </a:rPr>
              <a:t>Recorded classifier time: 0.0 ms. Not computed, then hidden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608576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0E6E5C"/>
                </a:solidFill>
                <a:latin typeface="Calibri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" y="4608576"/>
            <a:ext cx="51755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A19"/>
                </a:solidFill>
                <a:latin typeface="Calibri"/>
              </a:rPr>
              <a:t>Worded exactly like an unknown building, so using the rule reveals nothing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1783080"/>
            <a:ext cx="50292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93408" y="1965960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8A9692"/>
                </a:solidFill>
                <a:latin typeface="Calibri"/>
              </a:rPr>
              <a:t>SCREENSHOT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93408" y="2258568"/>
            <a:ext cx="4626864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86460"/>
                </a:solidFill>
                <a:latin typeface="Calibri"/>
              </a:rPr>
              <a:t>Capture: the assistant answering this question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586460"/>
                </a:solidFill>
                <a:latin typeface="Calibri"/>
              </a:rPr>
              <a:t>Type: "Where is SIM-22?"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586460"/>
                </a:solidFill>
                <a:latin typeface="Calibri"/>
              </a:rPr>
              <a:t>Shows: the refusal, and that it names no room or building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5394960"/>
            <a:ext cx="1087495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0E6E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559552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141A19"/>
                </a:solidFill>
                <a:latin typeface="Calibri"/>
              </a:rPr>
              <a:t>Across all 12 availability responses, no answer named a room, building, floor or office, and the egress filter recorded zero interceptions — the boundary held by construction, not by being caught.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E6E5C"/>
                </a:solidFill>
                <a:latin typeface="Calibri"/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87495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41A19"/>
                </a:solidFill>
                <a:latin typeface="Georgia"/>
              </a:rPr>
              <a:t>Stated plainly, because they are the method working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17320"/>
            <a:ext cx="10874959" cy="9525"/>
          </a:xfrm>
          <a:prstGeom prst="rect">
            <a:avLst/>
          </a:prstGeom>
          <a:solidFill>
            <a:srgbClr val="D5D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0E6E5C"/>
                </a:solidFill>
                <a:latin typeface="Calibri"/>
              </a:rPr>
              <a:t>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" y="1828800"/>
            <a:ext cx="104790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A19"/>
                </a:solidFill>
                <a:latin typeface="Calibri"/>
              </a:rPr>
              <a:t>The Random Forest is trained on a generated 37-lecturer cohort. Real attendance records were ruled out on privacy grounds — a §1.3 delimitation, not an oversight.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78892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0E6E5C"/>
                </a:solidFill>
                <a:latin typeface="Calibri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2788920"/>
            <a:ext cx="104790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A19"/>
                </a:solidFill>
                <a:latin typeface="Calibri"/>
              </a:rPr>
              <a:t>Every figure from that cohort is stamped data_origin='synthetic' and its artifacts are named -SIMULATION. The claim is that the pipeline recovers the behaviour injected into the data, and nothing more.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74904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0E6E5C"/>
                </a:solidFill>
                <a:latin typeface="Calibri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3749040"/>
            <a:ext cx="104790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A19"/>
                </a:solidFill>
                <a:latin typeface="Calibri"/>
              </a:rPr>
              <a:t>Field observation yielded 24 blind-capture records, below the sample the analysis needs. The capture form had pre-filled the observed status with the system’s own estimate; the defect was found, the form rebuilt, and the contaminated records excluded rather than counted.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70916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0E6E5C"/>
                </a:solidFill>
                <a:latin typeface="Calibri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4709160"/>
            <a:ext cx="104790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A19"/>
                </a:solidFill>
                <a:latin typeface="Calibri"/>
              </a:rPr>
              <a:t>RAGAS scoring is limited by judge throughput, not by design.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623560"/>
            <a:ext cx="10874959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0E6E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779008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A19"/>
                </a:solidFill>
                <a:latin typeface="Calibri"/>
              </a:rPr>
              <a:t>Next: a consented cohort with real attendance would let every number here be recomputed against reality using the instruments already built.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